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FA1227D-3CE5-3C17-C785-C1A241755312}">
          <p14:sldIdLst>
            <p14:sldId id="256"/>
            <p14:sldId id="257"/>
          </p14:sldIdLst>
        </p14:section>
        <p14:section name="Design" id="{C2BC893D-0BC8-A464-F01D-4441429D61C0}">
          <p14:sldIdLst>
            <p14:sldId id="258"/>
            <p14:sldId id="259"/>
          </p14:sldIdLst>
        </p14:section>
        <p14:section name="Results" id="{3EBBF770-571D-DF5A-1ED2-03E1DDB37DC3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3184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109728" cy="1554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868680" y="914400"/>
            <a:ext cx="7680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868680" y="9144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Design and Simulation of a Digital Door Access Control System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86868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Module 2 Project: Combinational Logic &amp; the ALU</a:t>
            </a:r>
            <a:endParaRPr lang="en-US" sz="1600" dirty="0"/>
          </a:p>
        </p:txBody>
      </p:sp>
      <p:sp>
        <p:nvSpPr>
          <p:cNvPr id="4" name="Team details"/>
          <p:cNvSpPr txBox="1"/>
          <p:nvPr/>
        </p:nvSpPr>
        <p:spPr>
          <a:xfrm>
            <a:off x="783336" y="31546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Team Members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2620030002-Siri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2620030025-Bruhathi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2620030033-Varshitha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2620030037-Kruthika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Introduction and Objective</a:t>
            </a:r>
            <a:endParaRPr lang="en-US" sz="2400" dirty="0"/>
          </a:p>
        </p:txBody>
      </p:sp>
      <p:sp>
        <p:nvSpPr>
          <p:cNvPr id="3" name="Intro card"/>
          <p:cNvSpPr/>
          <p:nvPr/>
        </p:nvSpPr>
        <p:spPr>
          <a:xfrm>
            <a:off x="457200" y="1005840"/>
            <a:ext cx="420624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Intro header bar"/>
          <p:cNvSpPr/>
          <p:nvPr/>
        </p:nvSpPr>
        <p:spPr>
          <a:xfrm>
            <a:off x="457200" y="1005840"/>
            <a:ext cx="4206240" cy="29260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" name="Intro header"/>
          <p:cNvSpPr txBox="1"/>
          <p:nvPr/>
        </p:nvSpPr>
        <p:spPr>
          <a:xfrm>
            <a:off x="54864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Introduction &amp; Objectives</a:t>
            </a:r>
            <a:endParaRPr lang="en-US" sz="1200" dirty="0"/>
          </a:p>
        </p:txBody>
      </p:sp>
      <p:sp>
        <p:nvSpPr>
          <p:cNvPr id="6" name="Intro body"/>
          <p:cNvSpPr txBox="1"/>
          <p:nvPr/>
        </p:nvSpPr>
        <p:spPr>
          <a:xfrm>
            <a:off x="548640" y="1353312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A digital door lock opens only when the right person gives the right credential. Our design compares a 4-bit PIN typed on switches with a stored PIN, checks that the card is valid and that the system is not locked out, then drives the correct door lock.</a:t>
            </a:r>
            <a:endParaRPr lang="en-US" sz="10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50" dirty="0">
                <a:solidFill>
                  <a:srgbClr val="000000"/>
                </a:solidFill>
              </a:rPr>
              <a:t>It uses only combinational logic: the output depends only on the current inputs, with no memory.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3"/>
                </a:solidFill>
              </a:rPr>
              <a:t>Objectives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Apply K-maps, comparators, MUX and decoder from Module 2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Go from specification to a working Logisim simulation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Verify every input case with a truth table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Link the compare logic to the ALU's set-less-than function</a:t>
            </a:r>
            <a:endParaRPr lang="en-US" sz="1050" dirty="0"/>
          </a:p>
        </p:txBody>
      </p:sp>
      <p:sp>
        <p:nvSpPr>
          <p:cNvPr id="7" name="Advantages card"/>
          <p:cNvSpPr/>
          <p:nvPr/>
        </p:nvSpPr>
        <p:spPr>
          <a:xfrm>
            <a:off x="4846320" y="1005840"/>
            <a:ext cx="3840480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Advantages header bar"/>
          <p:cNvSpPr/>
          <p:nvPr/>
        </p:nvSpPr>
        <p:spPr>
          <a:xfrm>
            <a:off x="4846320" y="1005840"/>
            <a:ext cx="3840480" cy="292608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Advantages header"/>
          <p:cNvSpPr txBox="1"/>
          <p:nvPr/>
        </p:nvSpPr>
        <p:spPr>
          <a:xfrm>
            <a:off x="4937760" y="1005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Advantages</a:t>
            </a:r>
            <a:endParaRPr lang="en-US" sz="1200" dirty="0"/>
          </a:p>
        </p:txBody>
      </p:sp>
      <p:sp>
        <p:nvSpPr>
          <p:cNvPr id="10" name="Advantages body"/>
          <p:cNvSpPr txBox="1"/>
          <p:nvPr/>
        </p:nvSpPr>
        <p:spPr>
          <a:xfrm>
            <a:off x="4937760" y="1353312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Very fast: output settles in a few gate delays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No clock or memory, so simple and low cost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K-map minimised, so fewer gates and less power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Easy to test with a complete truth table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Scalable: wider PIN or more doors by adding gates</a:t>
            </a:r>
            <a:endParaRPr lang="en-US" sz="1000" dirty="0"/>
          </a:p>
        </p:txBody>
      </p:sp>
      <p:sp>
        <p:nvSpPr>
          <p:cNvPr id="11" name="Disadvantages card"/>
          <p:cNvSpPr/>
          <p:nvPr/>
        </p:nvSpPr>
        <p:spPr>
          <a:xfrm>
            <a:off x="4846320" y="3017520"/>
            <a:ext cx="38404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Disadvantages header bar"/>
          <p:cNvSpPr/>
          <p:nvPr/>
        </p:nvSpPr>
        <p:spPr>
          <a:xfrm>
            <a:off x="4846320" y="3017520"/>
            <a:ext cx="3840480" cy="292608"/>
          </a:xfrm>
          <a:prstGeom prst="rect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3" name="Disadvantages header"/>
          <p:cNvSpPr txBox="1"/>
          <p:nvPr/>
        </p:nvSpPr>
        <p:spPr>
          <a:xfrm>
            <a:off x="493776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Disadvantages</a:t>
            </a:r>
            <a:endParaRPr lang="en-US" sz="1200" dirty="0"/>
          </a:p>
        </p:txBody>
      </p:sp>
      <p:sp>
        <p:nvSpPr>
          <p:cNvPr id="14" name="Disadvantages body"/>
          <p:cNvSpPr txBox="1"/>
          <p:nvPr/>
        </p:nvSpPr>
        <p:spPr>
          <a:xfrm>
            <a:off x="4937760" y="336499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No memory: cannot count failed attempts by itself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Fixed hardware PIN: changing it needs rewiring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Short 4-bit PIN has only 16 combinations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Wider comparators need more gates and delay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Theory and Logic Circuit</a:t>
            </a:r>
            <a:endParaRPr lang="en-US" sz="2400" dirty="0"/>
          </a:p>
        </p:txBody>
      </p:sp>
      <p:sp>
        <p:nvSpPr>
          <p:cNvPr id="3" name="Theory text"/>
          <p:cNvSpPr txBox="1"/>
          <p:nvPr/>
        </p:nvSpPr>
        <p:spPr>
          <a:xfrm>
            <a:off x="457200" y="960120"/>
            <a:ext cx="39319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Combinational logic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Output depends only on current inputs: no memory, no clock.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Equality comparator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Mi = XNOR(Pi, Si) for each bit, so Match = M3 · M2 · M1 · M0.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Lockout (3 failed attempts)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L = A1 · A0. Same idea as the ALU's set-less-than: allowed while attempts &lt; 3.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Grant and door select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Grant = Match · Card · L'. A 2-to-4 decoder sends Grant to door Dk when U1U0 = k.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K-map insight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00" dirty="0">
                <a:solidFill>
                  <a:srgbClr val="000000"/>
                </a:solidFill>
              </a:rPr>
              <a:t>Grant has one minterm (M=1, C=1, L=0), so no groups form and the 3-input AND is already minimal. XNOR cells are diagonal, so XNOR is used.</a:t>
            </a:r>
            <a:endParaRPr lang="en-US" sz="1100" dirty="0"/>
          </a:p>
        </p:txBody>
      </p:sp>
      <p:sp>
        <p:nvSpPr>
          <p:cNvPr id="4" name="Diagram frame"/>
          <p:cNvSpPr/>
          <p:nvPr/>
        </p:nvSpPr>
        <p:spPr>
          <a:xfrm>
            <a:off x="4480560" y="914400"/>
            <a:ext cx="4251960" cy="3840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iagram caption"/>
          <p:cNvSpPr txBox="1"/>
          <p:nvPr/>
        </p:nvSpPr>
        <p:spPr>
          <a:xfrm>
            <a:off x="4480560" y="91440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accent5"/>
                </a:solidFill>
              </a:rPr>
              <a:t>Circuit block diagram</a:t>
            </a:r>
            <a:endParaRPr lang="en-US" sz="900" dirty="0"/>
          </a:p>
        </p:txBody>
      </p:sp>
      <p:sp>
        <p:nvSpPr>
          <p:cNvPr id="6" name="In PIN"/>
          <p:cNvSpPr/>
          <p:nvPr/>
        </p:nvSpPr>
        <p:spPr>
          <a:xfrm>
            <a:off x="4572000" y="1188720"/>
            <a:ext cx="96012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7" name="In PIN text"/>
          <p:cNvSpPr txBox="1"/>
          <p:nvPr/>
        </p:nvSpPr>
        <p:spPr>
          <a:xfrm>
            <a:off x="4572000" y="1188720"/>
            <a:ext cx="960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Entered PIN P3–P0</a:t>
            </a:r>
            <a:endParaRPr lang="en-US" sz="900" dirty="0"/>
          </a:p>
        </p:txBody>
      </p:sp>
      <p:sp>
        <p:nvSpPr>
          <p:cNvPr id="8" name="In Stored"/>
          <p:cNvSpPr/>
          <p:nvPr/>
        </p:nvSpPr>
        <p:spPr>
          <a:xfrm>
            <a:off x="4572000" y="1828800"/>
            <a:ext cx="96012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9" name="In Stored text"/>
          <p:cNvSpPr txBox="1"/>
          <p:nvPr/>
        </p:nvSpPr>
        <p:spPr>
          <a:xfrm>
            <a:off x="4572000" y="1828800"/>
            <a:ext cx="960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Stored PIN S3–S0 (2:1 MUX)</a:t>
            </a:r>
            <a:endParaRPr lang="en-US" sz="900" dirty="0"/>
          </a:p>
        </p:txBody>
      </p:sp>
      <p:sp>
        <p:nvSpPr>
          <p:cNvPr id="10" name="In Card"/>
          <p:cNvSpPr/>
          <p:nvPr/>
        </p:nvSpPr>
        <p:spPr>
          <a:xfrm>
            <a:off x="4572000" y="2514600"/>
            <a:ext cx="96012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1" name="In Card text"/>
          <p:cNvSpPr txBox="1"/>
          <p:nvPr/>
        </p:nvSpPr>
        <p:spPr>
          <a:xfrm>
            <a:off x="4572000" y="2514600"/>
            <a:ext cx="960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Card valid C</a:t>
            </a:r>
            <a:endParaRPr lang="en-US" sz="900" dirty="0"/>
          </a:p>
        </p:txBody>
      </p:sp>
      <p:sp>
        <p:nvSpPr>
          <p:cNvPr id="12" name="In Attempts"/>
          <p:cNvSpPr/>
          <p:nvPr/>
        </p:nvSpPr>
        <p:spPr>
          <a:xfrm>
            <a:off x="4572000" y="3246120"/>
            <a:ext cx="96012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3" name="In Attempts text"/>
          <p:cNvSpPr txBox="1"/>
          <p:nvPr/>
        </p:nvSpPr>
        <p:spPr>
          <a:xfrm>
            <a:off x="4572000" y="3246120"/>
            <a:ext cx="960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Attempts A1 A0</a:t>
            </a:r>
            <a:endParaRPr lang="en-US" sz="900" dirty="0"/>
          </a:p>
        </p:txBody>
      </p:sp>
      <p:sp>
        <p:nvSpPr>
          <p:cNvPr id="14" name="In User"/>
          <p:cNvSpPr/>
          <p:nvPr/>
        </p:nvSpPr>
        <p:spPr>
          <a:xfrm>
            <a:off x="4572000" y="3931920"/>
            <a:ext cx="96012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5" name="In User text"/>
          <p:cNvSpPr txBox="1"/>
          <p:nvPr/>
        </p:nvSpPr>
        <p:spPr>
          <a:xfrm>
            <a:off x="4572000" y="3931920"/>
            <a:ext cx="9601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User ID U1 U0</a:t>
            </a:r>
            <a:endParaRPr lang="en-US" sz="900" dirty="0"/>
          </a:p>
        </p:txBody>
      </p:sp>
      <p:sp>
        <p:nvSpPr>
          <p:cNvPr id="16" name="Comparator"/>
          <p:cNvSpPr/>
          <p:nvPr/>
        </p:nvSpPr>
        <p:spPr>
          <a:xfrm>
            <a:off x="5760720" y="1188720"/>
            <a:ext cx="914400" cy="1143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Comparator text"/>
          <p:cNvSpPr txBox="1"/>
          <p:nvPr/>
        </p:nvSpPr>
        <p:spPr>
          <a:xfrm>
            <a:off x="5760720" y="1188720"/>
            <a:ext cx="9144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4× XNOR + AND4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Match M</a:t>
            </a:r>
            <a:endParaRPr lang="en-US" sz="900" dirty="0"/>
          </a:p>
        </p:txBody>
      </p:sp>
      <p:sp>
        <p:nvSpPr>
          <p:cNvPr id="18" name="Lockout"/>
          <p:cNvSpPr/>
          <p:nvPr/>
        </p:nvSpPr>
        <p:spPr>
          <a:xfrm>
            <a:off x="5760720" y="3246120"/>
            <a:ext cx="914400" cy="4572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9" name="Lockout text"/>
          <p:cNvSpPr txBox="1"/>
          <p:nvPr/>
        </p:nvSpPr>
        <p:spPr>
          <a:xfrm>
            <a:off x="576072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AND2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L = A1·A0</a:t>
            </a:r>
            <a:endParaRPr lang="en-US" sz="900" dirty="0"/>
          </a:p>
        </p:txBody>
      </p:sp>
      <p:sp>
        <p:nvSpPr>
          <p:cNvPr id="20" name="Grant"/>
          <p:cNvSpPr/>
          <p:nvPr/>
        </p:nvSpPr>
        <p:spPr>
          <a:xfrm>
            <a:off x="6903720" y="2148840"/>
            <a:ext cx="822960" cy="868680"/>
          </a:xfrm>
          <a:prstGeom prst="roundRect">
            <a:avLst>
              <a:gd name="adj" fmla="val 6667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1" name="Grant text"/>
          <p:cNvSpPr txBox="1"/>
          <p:nvPr/>
        </p:nvSpPr>
        <p:spPr>
          <a:xfrm>
            <a:off x="6903720" y="2148840"/>
            <a:ext cx="82296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AND3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Grant = M·C·L'</a:t>
            </a:r>
            <a:endParaRPr lang="en-US" sz="900" dirty="0"/>
          </a:p>
        </p:txBody>
      </p:sp>
      <p:sp>
        <p:nvSpPr>
          <p:cNvPr id="22" name="Decoder"/>
          <p:cNvSpPr/>
          <p:nvPr/>
        </p:nvSpPr>
        <p:spPr>
          <a:xfrm>
            <a:off x="7909560" y="2103120"/>
            <a:ext cx="731520" cy="228600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3" name="Decoder text"/>
          <p:cNvSpPr txBox="1"/>
          <p:nvPr/>
        </p:nvSpPr>
        <p:spPr>
          <a:xfrm>
            <a:off x="7909560" y="2103120"/>
            <a:ext cx="73152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2→4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chemeClr val="bg1"/>
                </a:solidFill>
              </a:rPr>
              <a:t>Decoder</a:t>
            </a:r>
            <a:endParaRPr lang="en-US" sz="900" dirty="0"/>
          </a:p>
        </p:txBody>
      </p:sp>
      <p:sp>
        <p:nvSpPr>
          <p:cNvPr id="24" name="Output label"/>
          <p:cNvSpPr txBox="1"/>
          <p:nvPr/>
        </p:nvSpPr>
        <p:spPr>
          <a:xfrm>
            <a:off x="7726680" y="4434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tx2"/>
                </a:solidFill>
              </a:rPr>
              <a:t>Door locks D0–D3</a:t>
            </a:r>
            <a:endParaRPr lang="en-US" sz="800" dirty="0"/>
          </a:p>
        </p:txBody>
      </p:sp>
      <p:sp>
        <p:nvSpPr>
          <p:cNvPr id="25" name="wire"/>
          <p:cNvSpPr/>
          <p:nvPr/>
        </p:nvSpPr>
        <p:spPr>
          <a:xfrm>
            <a:off x="5532120" y="144018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wire"/>
          <p:cNvSpPr/>
          <p:nvPr/>
        </p:nvSpPr>
        <p:spPr>
          <a:xfrm>
            <a:off x="5532120" y="208026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wire"/>
          <p:cNvSpPr/>
          <p:nvPr/>
        </p:nvSpPr>
        <p:spPr>
          <a:xfrm>
            <a:off x="5532120" y="2743200"/>
            <a:ext cx="1371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wire"/>
          <p:cNvSpPr/>
          <p:nvPr/>
        </p:nvSpPr>
        <p:spPr>
          <a:xfrm>
            <a:off x="5532120" y="3474720"/>
            <a:ext cx="22860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wire"/>
          <p:cNvSpPr/>
          <p:nvPr/>
        </p:nvSpPr>
        <p:spPr>
          <a:xfrm>
            <a:off x="6675120" y="1760220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0" name="wire"/>
          <p:cNvSpPr/>
          <p:nvPr/>
        </p:nvSpPr>
        <p:spPr>
          <a:xfrm>
            <a:off x="7040880" y="1760220"/>
            <a:ext cx="0" cy="38404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wire"/>
          <p:cNvSpPr/>
          <p:nvPr/>
        </p:nvSpPr>
        <p:spPr>
          <a:xfrm>
            <a:off x="6675120" y="3474720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2" name="wire"/>
          <p:cNvSpPr/>
          <p:nvPr/>
        </p:nvSpPr>
        <p:spPr>
          <a:xfrm>
            <a:off x="7040880" y="3017520"/>
            <a:ext cx="0" cy="4572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33" name="wire"/>
          <p:cNvSpPr/>
          <p:nvPr/>
        </p:nvSpPr>
        <p:spPr>
          <a:xfrm>
            <a:off x="7726680" y="2583180"/>
            <a:ext cx="1828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wire"/>
          <p:cNvSpPr/>
          <p:nvPr/>
        </p:nvSpPr>
        <p:spPr>
          <a:xfrm>
            <a:off x="5532120" y="4160520"/>
            <a:ext cx="23774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Circuit Design in Logisim</a:t>
            </a:r>
            <a:endParaRPr lang="en-US" sz="2400" dirty="0"/>
          </a:p>
        </p:txBody>
      </p:sp>
      <p:sp>
        <p:nvSpPr>
          <p:cNvPr id="3" name="Logisim circuit screenshot"/>
          <p:cNvSpPr/>
          <p:nvPr/>
        </p:nvSpPr>
        <p:spPr>
          <a:xfrm>
            <a:off x="457200" y="1005840"/>
            <a:ext cx="4572000" cy="370332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4" name="Logisim circuit screenshot label"/>
          <p:cNvSpPr txBox="1"/>
          <p:nvPr/>
        </p:nvSpPr>
        <p:spPr>
          <a:xfrm>
            <a:off x="548640" y="1005840"/>
            <a:ext cx="43891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accent5"/>
                </a:solidFill>
              </a:rPr>
              <a:t>Insert your Logisim circuit screenshot here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chemeClr val="accent5"/>
                </a:solidFill>
              </a:rPr>
              <a:t>(full circuit view with labelled pins)</a:t>
            </a:r>
            <a:endParaRPr lang="en-US" sz="1100" dirty="0"/>
          </a:p>
        </p:txBody>
      </p:sp>
      <p:sp>
        <p:nvSpPr>
          <p:cNvPr id="5" name="Components card"/>
          <p:cNvSpPr/>
          <p:nvPr/>
        </p:nvSpPr>
        <p:spPr>
          <a:xfrm>
            <a:off x="5212080" y="1005840"/>
            <a:ext cx="34747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Components header bar"/>
          <p:cNvSpPr/>
          <p:nvPr/>
        </p:nvSpPr>
        <p:spPr>
          <a:xfrm>
            <a:off x="5212080" y="1005840"/>
            <a:ext cx="3474720" cy="29260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7" name="Components header"/>
          <p:cNvSpPr txBox="1"/>
          <p:nvPr/>
        </p:nvSpPr>
        <p:spPr>
          <a:xfrm>
            <a:off x="5303520" y="1005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Components used</a:t>
            </a:r>
            <a:endParaRPr lang="en-US" sz="1200" dirty="0"/>
          </a:p>
        </p:txBody>
      </p:sp>
      <p:sp>
        <p:nvSpPr>
          <p:cNvPr id="8" name="Components body"/>
          <p:cNvSpPr txBox="1"/>
          <p:nvPr/>
        </p:nvSpPr>
        <p:spPr>
          <a:xfrm>
            <a:off x="5303520" y="1353312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Input pins: PIN, Card, Attempts, User ID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2:1 Multiplexer to pick the stored PIN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4 XNOR gates, AND gates (4, 2 and 3 input), NOT gate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2→4 Decoder and LED output pins</a:t>
            </a:r>
            <a:endParaRPr lang="en-US" sz="950" dirty="0"/>
          </a:p>
        </p:txBody>
      </p:sp>
      <p:sp>
        <p:nvSpPr>
          <p:cNvPr id="9" name="Working card"/>
          <p:cNvSpPr/>
          <p:nvPr/>
        </p:nvSpPr>
        <p:spPr>
          <a:xfrm>
            <a:off x="5212080" y="2560320"/>
            <a:ext cx="3474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Working header bar"/>
          <p:cNvSpPr/>
          <p:nvPr/>
        </p:nvSpPr>
        <p:spPr>
          <a:xfrm>
            <a:off x="5212080" y="2560320"/>
            <a:ext cx="3474720" cy="292608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Working header"/>
          <p:cNvSpPr txBox="1"/>
          <p:nvPr/>
        </p:nvSpPr>
        <p:spPr>
          <a:xfrm>
            <a:off x="5303520" y="2560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How the circuit works</a:t>
            </a:r>
            <a:endParaRPr lang="en-US" sz="1200" dirty="0"/>
          </a:p>
        </p:txBody>
      </p:sp>
      <p:sp>
        <p:nvSpPr>
          <p:cNvPr id="12" name="Working body"/>
          <p:cNvSpPr txBox="1"/>
          <p:nvPr/>
        </p:nvSpPr>
        <p:spPr>
          <a:xfrm>
            <a:off x="5303520" y="2907792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tx1"/>
                </a:solidFill>
              </a:rPr>
              <a:t>Set the PIN, card and attempt switches.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tx1"/>
                </a:solidFill>
              </a:rPr>
              <a:t>Each XNOR outputs 1 when its two bits match.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tx1"/>
                </a:solidFill>
              </a:rPr>
              <a:t>AND4 gives Match = 1 only if all 4 bits match.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tx1"/>
                </a:solidFill>
              </a:rPr>
              <a:t>Lockout turns 1 when attempts reach 3.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tx1"/>
                </a:solidFill>
              </a:rPr>
              <a:t>AND3 gives Grant = Match · Card · L'.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chemeClr val="tx1"/>
                </a:solidFill>
              </a:rPr>
              <a:t>Decoder lights the LED of the chosen door.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103EB4-40E4-0405-13F4-C1474E75A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457200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Simulation Results</a:t>
            </a:r>
            <a:endParaRPr lang="en-US" sz="2400" dirty="0"/>
          </a:p>
        </p:txBody>
      </p:sp>
      <p:sp>
        <p:nvSpPr>
          <p:cNvPr id="3" name="Table title"/>
          <p:cNvSpPr txBox="1"/>
          <p:nvPr/>
        </p:nvSpPr>
        <p:spPr>
          <a:xfrm>
            <a:off x="457200" y="9144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Truth table (stored PIN = 1010, user 0)</a:t>
            </a:r>
            <a:endParaRPr lang="en-US" sz="1100" dirty="0"/>
          </a:p>
        </p:txBody>
      </p:sp>
      <p:graphicFrame>
        <p:nvGraphicFramePr>
          <p:cNvPr id="6" name="Access tru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278680"/>
              </p:ext>
            </p:extLst>
          </p:nvPr>
        </p:nvGraphicFramePr>
        <p:xfrm>
          <a:off x="457199" y="1188720"/>
          <a:ext cx="6893170" cy="2048256"/>
        </p:xfrm>
        <a:graphic>
          <a:graphicData uri="http://schemas.openxmlformats.org/drawingml/2006/table">
            <a:tbl>
              <a:tblPr/>
              <a:tblGrid>
                <a:gridCol w="1027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74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55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65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3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Entered PIN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Stored PIN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Card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Attempts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Match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Lockout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1010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1010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E7C74"/>
                          </a:solidFill>
                        </a:rPr>
                        <a:t>GRANTED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1010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1010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03A36"/>
                          </a:solidFill>
                        </a:rPr>
                        <a:t>DENIED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1011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1010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03A36"/>
                          </a:solidFill>
                        </a:rPr>
                        <a:t>DENIED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0101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1010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03A36"/>
                          </a:solidFill>
                        </a:rPr>
                        <a:t>DENIED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1010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1010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03A36"/>
                          </a:solidFill>
                        </a:rPr>
                        <a:t>DENIED (locked)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0000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1010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B03A36"/>
                          </a:solidFill>
                        </a:rPr>
                        <a:t>DENIED</a:t>
                      </a:r>
                      <a:endParaRPr lang="en-US" sz="95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Decoder card"/>
          <p:cNvSpPr/>
          <p:nvPr/>
        </p:nvSpPr>
        <p:spPr>
          <a:xfrm>
            <a:off x="457200" y="3474720"/>
            <a:ext cx="52120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Decoder header bar"/>
          <p:cNvSpPr/>
          <p:nvPr/>
        </p:nvSpPr>
        <p:spPr>
          <a:xfrm>
            <a:off x="457200" y="3474720"/>
            <a:ext cx="5212080" cy="292608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7" name="Decoder header"/>
          <p:cNvSpPr txBox="1"/>
          <p:nvPr/>
        </p:nvSpPr>
        <p:spPr>
          <a:xfrm>
            <a:off x="548639" y="3474720"/>
            <a:ext cx="68017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Door select (2→4 decoder, active only when Access = 1)</a:t>
            </a:r>
            <a:endParaRPr lang="en-US" sz="1200" dirty="0"/>
          </a:p>
        </p:txBody>
      </p:sp>
      <p:sp>
        <p:nvSpPr>
          <p:cNvPr id="8" name="Decoder body"/>
          <p:cNvSpPr txBox="1"/>
          <p:nvPr/>
        </p:nvSpPr>
        <p:spPr>
          <a:xfrm>
            <a:off x="457200" y="3767328"/>
            <a:ext cx="5212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00000"/>
                </a:solidFill>
              </a:rPr>
              <a:t>U1 U0 = 00 → D0     01 → D1     10 → D2     11 → D3</a:t>
            </a:r>
            <a:endParaRPr lang="en-US" sz="1050" dirty="0"/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Verified: Grant = 1 only for the row with matching PIN, valid card and no lockout.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73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Conclusion and Applications</a:t>
            </a:r>
            <a:endParaRPr lang="en-US" sz="2400" dirty="0"/>
          </a:p>
        </p:txBody>
      </p:sp>
      <p:sp>
        <p:nvSpPr>
          <p:cNvPr id="3" name="Conclusion card"/>
          <p:cNvSpPr/>
          <p:nvPr/>
        </p:nvSpPr>
        <p:spPr>
          <a:xfrm>
            <a:off x="457200" y="1005840"/>
            <a:ext cx="2697480" cy="370332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Conclusion header bar"/>
          <p:cNvSpPr/>
          <p:nvPr/>
        </p:nvSpPr>
        <p:spPr>
          <a:xfrm>
            <a:off x="457200" y="1005840"/>
            <a:ext cx="2697480" cy="292608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" name="Conclusion header"/>
          <p:cNvSpPr txBox="1"/>
          <p:nvPr/>
        </p:nvSpPr>
        <p:spPr>
          <a:xfrm>
            <a:off x="548640" y="10058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6" name="Conclusion body"/>
          <p:cNvSpPr txBox="1"/>
          <p:nvPr/>
        </p:nvSpPr>
        <p:spPr>
          <a:xfrm>
            <a:off x="548640" y="1353312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 combinational door access system was designed and simulated in Logisim.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Every input combination matched the truth table.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Access is granted only with a correct PIN, valid card and no lockout.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K-maps, comparators, MUX and decoder from Module 2 worked together, the same blocks that build the ALU, the CPU's first major sub-system.</a:t>
            </a:r>
            <a:endParaRPr lang="en-US" sz="1000" dirty="0"/>
          </a:p>
        </p:txBody>
      </p:sp>
      <p:sp>
        <p:nvSpPr>
          <p:cNvPr id="7" name="Applications card"/>
          <p:cNvSpPr/>
          <p:nvPr/>
        </p:nvSpPr>
        <p:spPr>
          <a:xfrm>
            <a:off x="3291840" y="1005840"/>
            <a:ext cx="2697480" cy="370332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Applications header bar"/>
          <p:cNvSpPr/>
          <p:nvPr/>
        </p:nvSpPr>
        <p:spPr>
          <a:xfrm>
            <a:off x="3291840" y="1005840"/>
            <a:ext cx="2697480" cy="292608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Applications header"/>
          <p:cNvSpPr txBox="1"/>
          <p:nvPr/>
        </p:nvSpPr>
        <p:spPr>
          <a:xfrm>
            <a:off x="3383280" y="10058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10" name="Applications body"/>
          <p:cNvSpPr txBox="1"/>
          <p:nvPr/>
        </p:nvSpPr>
        <p:spPr>
          <a:xfrm>
            <a:off x="3383280" y="1353312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Homes and apartment entrances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Offices, labs and hostel gates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Lockers and safes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Server rooms and restricted areas</a:t>
            </a:r>
            <a:endParaRPr lang="en-US" sz="10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Parking barriers and elevators</a:t>
            </a:r>
            <a:endParaRPr lang="en-US" sz="1050" dirty="0"/>
          </a:p>
        </p:txBody>
      </p:sp>
      <p:sp>
        <p:nvSpPr>
          <p:cNvPr id="11" name="Improvements card"/>
          <p:cNvSpPr/>
          <p:nvPr/>
        </p:nvSpPr>
        <p:spPr>
          <a:xfrm>
            <a:off x="6126480" y="1005840"/>
            <a:ext cx="2560320" cy="3703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Improvements header bar"/>
          <p:cNvSpPr/>
          <p:nvPr/>
        </p:nvSpPr>
        <p:spPr>
          <a:xfrm>
            <a:off x="6126480" y="1005840"/>
            <a:ext cx="2560320" cy="292608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3" name="Improvements header"/>
          <p:cNvSpPr txBox="1"/>
          <p:nvPr/>
        </p:nvSpPr>
        <p:spPr>
          <a:xfrm>
            <a:off x="621792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Possible improvements</a:t>
            </a:r>
            <a:endParaRPr lang="en-US" sz="1200" dirty="0"/>
          </a:p>
        </p:txBody>
      </p:sp>
      <p:sp>
        <p:nvSpPr>
          <p:cNvPr id="14" name="Improvements body"/>
          <p:cNvSpPr txBox="1"/>
          <p:nvPr/>
        </p:nvSpPr>
        <p:spPr>
          <a:xfrm>
            <a:off x="6217920" y="1353312"/>
            <a:ext cx="2377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Add a counter (sequential logic) to count failed attempts automatically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Use a longer PIN or add RFID and keypad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Store PINs in memory so they can be changed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Add a buzzer alarm and timed re-lock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orAccess">
  <a:themeElements>
    <a:clrScheme name="DoorAccess">
      <a:dk1>
        <a:srgbClr val="1B2430"/>
      </a:dk1>
      <a:lt1>
        <a:srgbClr val="FFFFFF"/>
      </a:lt1>
      <a:dk2>
        <a:srgbClr val="0B2545"/>
      </a:dk2>
      <a:lt2>
        <a:srgbClr val="EEF3F8"/>
      </a:lt2>
      <a:accent1>
        <a:srgbClr val="13A89E"/>
      </a:accent1>
      <a:accent2>
        <a:srgbClr val="F2A541"/>
      </a:accent2>
      <a:accent3>
        <a:srgbClr val="2E6FBF"/>
      </a:accent3>
      <a:accent4>
        <a:srgbClr val="D9534F"/>
      </a:accent4>
      <a:accent5>
        <a:srgbClr val="6C7A89"/>
      </a:accent5>
      <a:accent6>
        <a:srgbClr val="8E5BD9"/>
      </a:accent6>
      <a:hlink>
        <a:srgbClr val="2E6FBF"/>
      </a:hlink>
      <a:folHlink>
        <a:srgbClr val="6C7A89"/>
      </a:folHlink>
    </a:clrScheme>
    <a:fontScheme name="DoorAcces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790</Words>
  <Application>Microsoft Office PowerPoint</Application>
  <PresentationFormat>On-screen Show (16:9)</PresentationFormat>
  <Paragraphs>150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DoorAccess</vt:lpstr>
      <vt:lpstr>Design and Simulation of a Digital Door Access Control System</vt:lpstr>
      <vt:lpstr>Introduction and Objective</vt:lpstr>
      <vt:lpstr>Theory and Logic Circuit</vt:lpstr>
      <vt:lpstr>Circuit Design in Logisim</vt:lpstr>
      <vt:lpstr>Simulation Results</vt:lpstr>
      <vt:lpstr>Conclusion and Applications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a Digital Door Access Control System</dc:title>
  <dc:subject>PptxGenJS Presentation</dc:subject>
  <dc:creator>PptxGenJS</dc:creator>
  <cp:lastModifiedBy>VANGURI SUBHASH</cp:lastModifiedBy>
  <cp:revision>2</cp:revision>
  <dcterms:created xsi:type="dcterms:W3CDTF">2026-10-14T18:11:53Z</dcterms:created>
  <dcterms:modified xsi:type="dcterms:W3CDTF">2026-10-15T05:55:57Z</dcterms:modified>
</cp:coreProperties>
</file>