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0447" y="1898471"/>
            <a:ext cx="6748780" cy="47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6247" y="2643578"/>
            <a:ext cx="8877935" cy="2439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08777" y="1677763"/>
            <a:ext cx="5866130" cy="1550035"/>
          </a:xfrm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4950"/>
              <a:t>4 bit</a:t>
            </a:r>
            <a:r>
              <a:rPr dirty="0" sz="4950" spc="10"/>
              <a:t> </a:t>
            </a:r>
            <a:r>
              <a:rPr dirty="0" sz="4950" spc="-10"/>
              <a:t>Binary-</a:t>
            </a:r>
            <a:r>
              <a:rPr dirty="0" sz="4950" spc="-30"/>
              <a:t>to-</a:t>
            </a:r>
            <a:r>
              <a:rPr dirty="0" sz="4950" spc="-10"/>
              <a:t>decimal</a:t>
            </a:r>
            <a:endParaRPr sz="4950"/>
          </a:p>
          <a:p>
            <a:pPr marL="12700" marR="2129155" indent="42545">
              <a:lnSpc>
                <a:spcPct val="100400"/>
              </a:lnSpc>
              <a:spcBef>
                <a:spcPts val="165"/>
              </a:spcBef>
            </a:pPr>
            <a:r>
              <a:rPr dirty="0" sz="2300" spc="-10"/>
              <a:t>Conversion</a:t>
            </a:r>
            <a:r>
              <a:rPr dirty="0" sz="2300" spc="-40"/>
              <a:t> </a:t>
            </a:r>
            <a:r>
              <a:rPr dirty="0" sz="2300"/>
              <a:t>and</a:t>
            </a:r>
            <a:r>
              <a:rPr dirty="0" sz="2300" spc="-35"/>
              <a:t> </a:t>
            </a:r>
            <a:r>
              <a:rPr dirty="0" sz="2300"/>
              <a:t>Display</a:t>
            </a:r>
            <a:r>
              <a:rPr dirty="0" sz="2300" spc="-30"/>
              <a:t> </a:t>
            </a:r>
            <a:r>
              <a:rPr dirty="0" sz="2300" spc="-10"/>
              <a:t>System </a:t>
            </a:r>
            <a:r>
              <a:rPr dirty="0" sz="2300"/>
              <a:t>Using Logic</a:t>
            </a:r>
            <a:r>
              <a:rPr dirty="0" sz="2300" spc="-20"/>
              <a:t> Gates</a:t>
            </a:r>
            <a:endParaRPr sz="2300"/>
          </a:p>
        </p:txBody>
      </p:sp>
      <p:sp>
        <p:nvSpPr>
          <p:cNvPr id="4" name="object 4"/>
          <p:cNvSpPr txBox="1"/>
          <p:nvPr/>
        </p:nvSpPr>
        <p:spPr>
          <a:xfrm>
            <a:off x="4582136" y="4804669"/>
            <a:ext cx="2050414" cy="1283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Presented</a:t>
            </a:r>
            <a:r>
              <a:rPr dirty="0" u="sng" sz="1650" spc="-2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by: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Siri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6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2620030002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Bruhathi</a:t>
            </a:r>
            <a:r>
              <a:rPr dirty="0" sz="16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6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2620030025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Varshitha</a:t>
            </a:r>
            <a:r>
              <a:rPr dirty="0" sz="16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2620030033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Kruthika</a:t>
            </a:r>
            <a:r>
              <a:rPr dirty="0" sz="16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6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2620030037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0"/>
              <a:t>WHAT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4</a:t>
            </a:r>
            <a:r>
              <a:rPr dirty="0" spc="-25"/>
              <a:t> </a:t>
            </a:r>
            <a:r>
              <a:rPr dirty="0"/>
              <a:t>BIT</a:t>
            </a:r>
            <a:r>
              <a:rPr dirty="0" spc="-100"/>
              <a:t> </a:t>
            </a:r>
            <a:r>
              <a:rPr dirty="0" spc="-20"/>
              <a:t>BINARY</a:t>
            </a:r>
            <a:r>
              <a:rPr dirty="0" spc="-80"/>
              <a:t> </a:t>
            </a:r>
            <a:r>
              <a:rPr dirty="0" spc="-10"/>
              <a:t>CONVERSION?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435" y="2469914"/>
            <a:ext cx="7533640" cy="246570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955"/>
              </a:spcBef>
              <a:buFont typeface="Arial"/>
              <a:buChar char="•"/>
              <a:tabLst>
                <a:tab pos="24828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4-bit</a:t>
            </a:r>
            <a:r>
              <a:rPr dirty="0" sz="1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dirty="0" sz="195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19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consists of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bits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19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bit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either</a:t>
            </a:r>
            <a:r>
              <a:rPr dirty="0" sz="19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25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828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dirty="0" sz="195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combinations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0000</a:t>
            </a:r>
            <a:r>
              <a:rPr dirty="0" sz="195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1111.</a:t>
            </a:r>
            <a:endParaRPr sz="19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828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represent</a:t>
            </a:r>
            <a:r>
              <a:rPr dirty="0" sz="19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decimal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1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dirty="0" sz="19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25" b="1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828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bit positions</a:t>
            </a:r>
            <a:r>
              <a:rPr dirty="0" sz="195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dirty="0" sz="19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4,</a:t>
            </a:r>
            <a:r>
              <a:rPr dirty="0" sz="195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2,</a:t>
            </a:r>
            <a:r>
              <a:rPr dirty="0" sz="19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25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8285" algn="l"/>
              </a:tabLst>
            </a:pPr>
            <a:r>
              <a:rPr dirty="0" sz="1950" spc="-10" b="1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19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828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1010₂</a:t>
            </a:r>
            <a:r>
              <a:rPr dirty="0" sz="19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9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(1×8)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(0×4)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(1×2)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9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(0×1)</a:t>
            </a:r>
            <a:r>
              <a:rPr dirty="0" sz="19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Calibri"/>
                <a:cs typeface="Calibri"/>
              </a:rPr>
              <a:t>10₁₀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4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BIT</a:t>
            </a:r>
            <a:r>
              <a:rPr dirty="0" spc="-30"/>
              <a:t> </a:t>
            </a:r>
            <a:r>
              <a:rPr dirty="0" spc="-25"/>
              <a:t>BINARY</a:t>
            </a:r>
            <a:r>
              <a:rPr dirty="0" spc="-75"/>
              <a:t> </a:t>
            </a:r>
            <a:r>
              <a:rPr dirty="0"/>
              <a:t>-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45"/>
              <a:t> </a:t>
            </a:r>
            <a:r>
              <a:rPr dirty="0"/>
              <a:t>DECIMAL</a:t>
            </a:r>
            <a:r>
              <a:rPr dirty="0" spc="-75"/>
              <a:t> </a:t>
            </a:r>
            <a:r>
              <a:rPr dirty="0" spc="-10"/>
              <a:t>CONVERSION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458" y="2473835"/>
            <a:ext cx="731456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690" marR="5080" indent="-47625">
              <a:lnSpc>
                <a:spcPct val="141200"/>
              </a:lnSpc>
              <a:spcBef>
                <a:spcPts val="100"/>
              </a:spcBef>
              <a:buFont typeface="Wingdings"/>
              <a:buChar char=""/>
              <a:tabLst>
                <a:tab pos="59690" algn="l"/>
                <a:tab pos="247650" algn="l"/>
              </a:tabLst>
            </a:pP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4-bit</a:t>
            </a:r>
            <a:r>
              <a:rPr dirty="0" sz="16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binary-to-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decimal</a:t>
            </a:r>
            <a:r>
              <a:rPr dirty="0" sz="16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conversion</a:t>
            </a:r>
            <a:r>
              <a:rPr dirty="0" sz="16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6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6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gates</a:t>
            </a:r>
            <a:r>
              <a:rPr dirty="0" sz="16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6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circuit</a:t>
            </a:r>
            <a:r>
              <a:rPr dirty="0" sz="16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 a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 4-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bit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dirty="0" sz="16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16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produces</a:t>
            </a:r>
            <a:r>
              <a:rPr dirty="0" sz="16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6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corresponding</a:t>
            </a:r>
            <a:r>
              <a:rPr dirty="0" sz="16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decimal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6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display.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7883" y="3482340"/>
            <a:ext cx="6374892" cy="3011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522605">
              <a:lnSpc>
                <a:spcPct val="100000"/>
              </a:lnSpc>
              <a:spcBef>
                <a:spcPts val="125"/>
              </a:spcBef>
            </a:pPr>
            <a:r>
              <a:rPr dirty="0" spc="-55"/>
              <a:t>ADVANTAGES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435" y="2550631"/>
            <a:ext cx="8016875" cy="2506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0"/>
              </a:spcBef>
              <a:buFont typeface="Wingdings"/>
              <a:buChar char=""/>
              <a:tabLst>
                <a:tab pos="24828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9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dirty="0" sz="1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r>
              <a:rPr dirty="0" sz="1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dirty="0" sz="19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gates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such as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AND,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OR,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gates.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0"/>
              </a:spcBef>
              <a:buClr>
                <a:srgbClr val="FFFFFF"/>
              </a:buClr>
              <a:buFont typeface="Wingdings"/>
              <a:buChar char=""/>
            </a:pPr>
            <a:endParaRPr sz="1950">
              <a:latin typeface="Calibri"/>
              <a:cs typeface="Calibri"/>
            </a:endParaRPr>
          </a:p>
          <a:p>
            <a:pPr marL="247650" marR="239395" indent="-235585">
              <a:lnSpc>
                <a:spcPct val="101600"/>
              </a:lnSpc>
              <a:buFont typeface="Wingdings"/>
              <a:buChar char=""/>
              <a:tabLst>
                <a:tab pos="248920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Helps</a:t>
            </a:r>
            <a:r>
              <a:rPr dirty="0" sz="19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dirty="0" sz="1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numbers,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decimal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representation,</a:t>
            </a:r>
            <a:r>
              <a:rPr dirty="0" sz="19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truth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dirty="0" sz="19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circuits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Clr>
                <a:srgbClr val="FFFFFF"/>
              </a:buClr>
              <a:buFont typeface="Wingdings"/>
              <a:buChar char=""/>
            </a:pPr>
            <a:endParaRPr sz="1950">
              <a:latin typeface="Calibri"/>
              <a:cs typeface="Calibri"/>
            </a:endParaRPr>
          </a:p>
          <a:p>
            <a:pPr marL="247650" marR="5080" indent="-235585">
              <a:lnSpc>
                <a:spcPct val="101600"/>
              </a:lnSpc>
              <a:buFont typeface="Wingdings"/>
              <a:buChar char=""/>
              <a:tabLst>
                <a:tab pos="248920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9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dirty="0" sz="19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using hardware</a:t>
            </a:r>
            <a:r>
              <a:rPr dirty="0" sz="1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logic,</a:t>
            </a:r>
            <a:r>
              <a:rPr dirty="0" sz="1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dirty="0" sz="195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requiring</a:t>
            </a:r>
            <a:r>
              <a:rPr dirty="0" sz="19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programming or</a:t>
            </a:r>
            <a:r>
              <a:rPr dirty="0" sz="19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950" spc="-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microcontroller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437515">
              <a:lnSpc>
                <a:spcPct val="100000"/>
              </a:lnSpc>
              <a:spcBef>
                <a:spcPts val="125"/>
              </a:spcBef>
            </a:pPr>
            <a:r>
              <a:rPr dirty="0" spc="-50"/>
              <a:t>DISADVANTAGES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0"/>
              </a:spcBef>
              <a:buFont typeface="Wingdings"/>
              <a:buChar char=""/>
              <a:tabLst>
                <a:tab pos="248285" algn="l"/>
              </a:tabLst>
            </a:pPr>
            <a:r>
              <a:rPr dirty="0"/>
              <a:t>A</a:t>
            </a:r>
            <a:r>
              <a:rPr dirty="0" spc="15"/>
              <a:t> </a:t>
            </a:r>
            <a:r>
              <a:rPr dirty="0"/>
              <a:t>4-bit input can represent</a:t>
            </a:r>
            <a:r>
              <a:rPr dirty="0" spc="20"/>
              <a:t> </a:t>
            </a:r>
            <a:r>
              <a:rPr dirty="0"/>
              <a:t>only</a:t>
            </a:r>
            <a:r>
              <a:rPr dirty="0" spc="5"/>
              <a:t> </a:t>
            </a:r>
            <a:r>
              <a:rPr dirty="0"/>
              <a:t>0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35"/>
              <a:t> </a:t>
            </a:r>
            <a:r>
              <a:rPr dirty="0" spc="-25"/>
              <a:t>15.</a:t>
            </a: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Wingdings"/>
              <a:buChar char=""/>
            </a:pPr>
          </a:p>
          <a:p>
            <a:pPr marL="248285" indent="-235585">
              <a:lnSpc>
                <a:spcPct val="100000"/>
              </a:lnSpc>
              <a:buFont typeface="Wingdings"/>
              <a:buChar char=""/>
              <a:tabLst>
                <a:tab pos="248285" algn="l"/>
              </a:tabLst>
            </a:pPr>
            <a:r>
              <a:rPr dirty="0"/>
              <a:t>Increasing the</a:t>
            </a:r>
            <a:r>
              <a:rPr dirty="0" spc="25"/>
              <a:t> </a:t>
            </a:r>
            <a:r>
              <a:rPr dirty="0"/>
              <a:t>number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bits</a:t>
            </a:r>
            <a:r>
              <a:rPr dirty="0" spc="40"/>
              <a:t> </a:t>
            </a:r>
            <a:r>
              <a:rPr dirty="0"/>
              <a:t>requires</a:t>
            </a:r>
            <a:r>
              <a:rPr dirty="0" spc="25"/>
              <a:t> </a:t>
            </a:r>
            <a:r>
              <a:rPr dirty="0"/>
              <a:t>additional</a:t>
            </a:r>
            <a:r>
              <a:rPr dirty="0" spc="25"/>
              <a:t> </a:t>
            </a:r>
            <a:r>
              <a:rPr dirty="0"/>
              <a:t>logic</a:t>
            </a:r>
            <a:r>
              <a:rPr dirty="0" spc="-5"/>
              <a:t> </a:t>
            </a:r>
            <a:r>
              <a:rPr dirty="0"/>
              <a:t>gates</a:t>
            </a:r>
            <a:r>
              <a:rPr dirty="0" spc="4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 spc="-10"/>
              <a:t>circuits</a:t>
            </a: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Wingdings"/>
              <a:buChar char=""/>
            </a:pPr>
          </a:p>
          <a:p>
            <a:pPr marL="304800" indent="-292100">
              <a:lnSpc>
                <a:spcPct val="100000"/>
              </a:lnSpc>
              <a:buFont typeface="Wingdings"/>
              <a:buChar char=""/>
              <a:tabLst>
                <a:tab pos="304800" algn="l"/>
              </a:tabLst>
            </a:pPr>
            <a:r>
              <a:rPr dirty="0"/>
              <a:t>Using</a:t>
            </a:r>
            <a:r>
              <a:rPr dirty="0" spc="20"/>
              <a:t> </a:t>
            </a:r>
            <a:r>
              <a:rPr dirty="0"/>
              <a:t>multiple</a:t>
            </a:r>
            <a:r>
              <a:rPr dirty="0" spc="5"/>
              <a:t> </a:t>
            </a:r>
            <a:r>
              <a:rPr dirty="0"/>
              <a:t>ICs</a:t>
            </a:r>
            <a:r>
              <a:rPr dirty="0" spc="20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a</a:t>
            </a:r>
            <a:r>
              <a:rPr dirty="0" spc="50"/>
              <a:t> </a:t>
            </a:r>
            <a:r>
              <a:rPr dirty="0"/>
              <a:t>display</a:t>
            </a:r>
            <a:r>
              <a:rPr dirty="0" spc="-10"/>
              <a:t> </a:t>
            </a:r>
            <a:r>
              <a:rPr dirty="0"/>
              <a:t>increases</a:t>
            </a:r>
            <a:r>
              <a:rPr dirty="0" spc="20"/>
              <a:t> </a:t>
            </a:r>
            <a:r>
              <a:rPr dirty="0"/>
              <a:t>power</a:t>
            </a:r>
            <a:r>
              <a:rPr dirty="0" spc="30"/>
              <a:t> </a:t>
            </a:r>
            <a:r>
              <a:rPr dirty="0" spc="-10"/>
              <a:t>usage.</a:t>
            </a:r>
          </a:p>
          <a:p>
            <a:pPr marL="247650" marR="5080" indent="-235585">
              <a:lnSpc>
                <a:spcPct val="101600"/>
              </a:lnSpc>
              <a:spcBef>
                <a:spcPts val="2375"/>
              </a:spcBef>
              <a:buFont typeface="Wingdings"/>
              <a:buChar char=""/>
              <a:tabLst>
                <a:tab pos="248920" algn="l"/>
              </a:tabLst>
            </a:pPr>
            <a:r>
              <a:rPr dirty="0"/>
              <a:t>Changing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circuit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additional</a:t>
            </a:r>
            <a:r>
              <a:rPr dirty="0" spc="40"/>
              <a:t> </a:t>
            </a:r>
            <a:r>
              <a:rPr dirty="0"/>
              <a:t>digits</a:t>
            </a:r>
            <a:r>
              <a:rPr dirty="0" spc="30"/>
              <a:t> </a:t>
            </a:r>
            <a:r>
              <a:rPr dirty="0"/>
              <a:t>or</a:t>
            </a:r>
            <a:r>
              <a:rPr dirty="0" spc="35"/>
              <a:t> </a:t>
            </a:r>
            <a:r>
              <a:rPr dirty="0"/>
              <a:t>functions</a:t>
            </a:r>
            <a:r>
              <a:rPr dirty="0" spc="35"/>
              <a:t> </a:t>
            </a:r>
            <a:r>
              <a:rPr dirty="0"/>
              <a:t>may</a:t>
            </a:r>
            <a:r>
              <a:rPr dirty="0" spc="25"/>
              <a:t> </a:t>
            </a:r>
            <a:r>
              <a:rPr dirty="0"/>
              <a:t>require</a:t>
            </a:r>
            <a:r>
              <a:rPr dirty="0" spc="15"/>
              <a:t> </a:t>
            </a:r>
            <a:r>
              <a:rPr dirty="0"/>
              <a:t>redesigning</a:t>
            </a:r>
            <a:r>
              <a:rPr dirty="0" spc="10"/>
              <a:t> </a:t>
            </a:r>
            <a:r>
              <a:rPr dirty="0"/>
              <a:t>part</a:t>
            </a:r>
            <a:r>
              <a:rPr dirty="0" spc="20"/>
              <a:t> </a:t>
            </a:r>
            <a:r>
              <a:rPr dirty="0" spc="-25"/>
              <a:t>of </a:t>
            </a:r>
            <a:r>
              <a:rPr dirty="0" spc="-25"/>
              <a:t>	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10"/>
              <a:t>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64688" y="3280567"/>
            <a:ext cx="3368675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50"/>
              <a:t>THANK</a:t>
            </a:r>
            <a:r>
              <a:rPr dirty="0" sz="5450" spc="-80"/>
              <a:t> </a:t>
            </a:r>
            <a:r>
              <a:rPr dirty="0" sz="5450" spc="-40"/>
              <a:t>YOU</a:t>
            </a:r>
            <a:endParaRPr sz="5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varshitha</dc:creator>
  <dc:title>Microsoft PowerPoint - Celestial</dc:title>
  <dcterms:created xsi:type="dcterms:W3CDTF">2026-09-11T18:00:55Z</dcterms:created>
  <dcterms:modified xsi:type="dcterms:W3CDTF">2026-09-11T18:00:55Z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2026-09-09T00:00:00Z</vt:filetime>
  </property>
  <property fmtid="{D5CDD505-2E9C-101B-9397-08002B2CF9AE}" pid="3" name="LastSaved">
    <vt:filetime>2026-09-11T00:00:00Z</vt:filetime>
  </property>
  <property fmtid="{D5CDD505-2E9C-101B-9397-08002B2CF9AE}" pid="4" name="Producer">
    <vt:lpwstr>Microsoft: Print To PDF</vt:lpwstr>
  </property>
</Properties>
</file>